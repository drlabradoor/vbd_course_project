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69" r:id="rId9"/>
    <p:sldId id="270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/>
  <p:notesSz cx="8229600" cy="14630400"/>
  <p:embeddedFontLst>
    <p:embeddedFont>
      <p:font typeface="Tomorrow" panose="020B0604020202020204" charset="0"/>
      <p:regular r:id="rId18"/>
    </p:embeddedFont>
    <p:embeddedFont>
      <p:font typeface="Tomorrow Semi Bold" panose="020B0604020202020204" charset="0"/>
      <p:regular r:id="rId19"/>
    </p:embeddedFont>
  </p:embeddedFontLst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13" autoAdjust="0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4378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godaiklimat.ru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79702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Прогнозирование температуры воздуха в Актау на 2025 год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508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Комплексный анализ и моделирование на основе метеорологических данных.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8689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Подготовил: </a:t>
            </a:r>
            <a:r>
              <a:rPr lang="ru-RU" sz="1750" dirty="0" err="1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Капулер</a:t>
            </a:r>
            <a:r>
              <a:rPr lang="ru-RU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Дмитрий ИС-22-2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9842"/>
            <a:ext cx="13042821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Постановка задачи и практическая ценность проекта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93790" y="2740700"/>
            <a:ext cx="4203978" cy="4849058"/>
          </a:xfrm>
          <a:prstGeom prst="roundRect">
            <a:avLst>
              <a:gd name="adj" fmla="val 3480"/>
            </a:avLst>
          </a:prstGeom>
          <a:solidFill>
            <a:srgbClr val="FCFCFC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710220"/>
            <a:ext cx="4203978" cy="121920"/>
          </a:xfrm>
          <a:prstGeom prst="roundRect">
            <a:avLst>
              <a:gd name="adj" fmla="val 26512"/>
            </a:avLst>
          </a:prstGeom>
          <a:solidFill>
            <a:srgbClr val="1D1D1B"/>
          </a:solidFill>
          <a:ln/>
        </p:spPr>
      </p:sp>
      <p:sp>
        <p:nvSpPr>
          <p:cNvPr id="5" name="Shape 3"/>
          <p:cNvSpPr/>
          <p:nvPr/>
        </p:nvSpPr>
        <p:spPr>
          <a:xfrm>
            <a:off x="2572524" y="2417564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1D1D1B"/>
          </a:solidFill>
          <a:ln/>
        </p:spPr>
      </p:sp>
      <p:sp>
        <p:nvSpPr>
          <p:cNvPr id="6" name="Text 4"/>
          <p:cNvSpPr/>
          <p:nvPr/>
        </p:nvSpPr>
        <p:spPr>
          <a:xfrm>
            <a:off x="2766477" y="2579132"/>
            <a:ext cx="258485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39654" y="327933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Цель проекта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39654" y="3745111"/>
            <a:ext cx="3712250" cy="172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Разработка точной модели прогнозирования температуры воздуха в Актау на 2025 год, используя исторические метеорологические данные.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13152" y="2740700"/>
            <a:ext cx="4203978" cy="4849058"/>
          </a:xfrm>
          <a:prstGeom prst="roundRect">
            <a:avLst>
              <a:gd name="adj" fmla="val 3480"/>
            </a:avLst>
          </a:prstGeom>
          <a:solidFill>
            <a:srgbClr val="FCFCFC"/>
          </a:solidFill>
          <a:ln/>
        </p:spPr>
      </p:sp>
      <p:sp>
        <p:nvSpPr>
          <p:cNvPr id="10" name="Shape 8"/>
          <p:cNvSpPr/>
          <p:nvPr/>
        </p:nvSpPr>
        <p:spPr>
          <a:xfrm>
            <a:off x="5213152" y="2710220"/>
            <a:ext cx="4203978" cy="121920"/>
          </a:xfrm>
          <a:prstGeom prst="roundRect">
            <a:avLst>
              <a:gd name="adj" fmla="val 26512"/>
            </a:avLst>
          </a:prstGeom>
          <a:solidFill>
            <a:srgbClr val="1D1D1B"/>
          </a:solidFill>
          <a:ln/>
        </p:spPr>
      </p:sp>
      <p:sp>
        <p:nvSpPr>
          <p:cNvPr id="11" name="Shape 9"/>
          <p:cNvSpPr/>
          <p:nvPr/>
        </p:nvSpPr>
        <p:spPr>
          <a:xfrm>
            <a:off x="6991886" y="2417564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1D1D1B"/>
          </a:solidFill>
          <a:ln/>
        </p:spPr>
      </p:sp>
      <p:sp>
        <p:nvSpPr>
          <p:cNvPr id="12" name="Text 10"/>
          <p:cNvSpPr/>
          <p:nvPr/>
        </p:nvSpPr>
        <p:spPr>
          <a:xfrm>
            <a:off x="7185839" y="2579132"/>
            <a:ext cx="258485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59016" y="327933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Для кого это важно?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59016" y="3745111"/>
            <a:ext cx="3712250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Оперативные службы: для планирования ресурсов и реагирования на ЧС.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459016" y="4854893"/>
            <a:ext cx="3712250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Городские службы: для оптимизации потребления энергии и управления инфраструктурой.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459016" y="6309479"/>
            <a:ext cx="3712250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Метеорологи: для углубленного анализа и улучшения методов прогнозирования.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632513" y="2740700"/>
            <a:ext cx="4203978" cy="4849058"/>
          </a:xfrm>
          <a:prstGeom prst="roundRect">
            <a:avLst>
              <a:gd name="adj" fmla="val 3480"/>
            </a:avLst>
          </a:prstGeom>
          <a:solidFill>
            <a:srgbClr val="FCFCFC"/>
          </a:solidFill>
          <a:ln/>
        </p:spPr>
      </p:sp>
      <p:sp>
        <p:nvSpPr>
          <p:cNvPr id="18" name="Shape 16"/>
          <p:cNvSpPr/>
          <p:nvPr/>
        </p:nvSpPr>
        <p:spPr>
          <a:xfrm>
            <a:off x="9632513" y="2710220"/>
            <a:ext cx="4203978" cy="121920"/>
          </a:xfrm>
          <a:prstGeom prst="roundRect">
            <a:avLst>
              <a:gd name="adj" fmla="val 26512"/>
            </a:avLst>
          </a:prstGeom>
          <a:solidFill>
            <a:srgbClr val="1D1D1B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11248" y="2417564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1D1D1B"/>
          </a:solidFill>
          <a:ln/>
        </p:spPr>
      </p:sp>
      <p:sp>
        <p:nvSpPr>
          <p:cNvPr id="20" name="Text 18"/>
          <p:cNvSpPr/>
          <p:nvPr/>
        </p:nvSpPr>
        <p:spPr>
          <a:xfrm>
            <a:off x="11605200" y="2579132"/>
            <a:ext cx="258485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878378" y="3279338"/>
            <a:ext cx="312955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Практическая ценность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878378" y="3745111"/>
            <a:ext cx="3712250" cy="172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Повышение эффективности принятия решений, снижение рисков и экономия ресурсов за счет более точных температурных прогнозов.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85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Исходные данные: обзор и ключевые признаки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08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Источник данных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8953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Данные о погоде за прошлые периоды получены с ресурса </a:t>
            </a:r>
            <a:r>
              <a:rPr lang="en-US" sz="1750" u="sng" dirty="0">
                <a:solidFill>
                  <a:srgbClr val="1D1D1B"/>
                </a:solidFill>
                <a:latin typeface="Tomorrow" pitchFamily="34" charset="0"/>
                <a:ea typeface="Tomorrow" pitchFamily="34" charset="-122"/>
                <a:cs typeface="Tomorro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pogodaiklimat.ru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1941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Период: </a:t>
            </a:r>
            <a:r>
              <a:rPr lang="ru-RU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2025 год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8638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Общий объем: </a:t>
            </a:r>
            <a:r>
              <a:rPr lang="en-US" sz="1750" dirty="0">
                <a:solidFill>
                  <a:srgbClr val="1D1D1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2672 уникальных записи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с ежедневными метеорологическими показателями.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308390"/>
            <a:ext cx="36677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Ключевые метеопризнаки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388953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Температура воздуха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(°C): целевая переменная для прогнозирования.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69463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Атмосферное давление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(гПа).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1368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Влажность воздуха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(%).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5790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Скорость ветра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(м/с).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602122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Осадки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(мм).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64634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Облачность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(баллы).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72866"/>
            <a:ext cx="115216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Исследовательский анализ данных (EDA)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35273"/>
            <a:ext cx="13042821" cy="3121462"/>
          </a:xfrm>
          <a:prstGeom prst="roundRect">
            <a:avLst>
              <a:gd name="adj" fmla="val 1090"/>
            </a:avLst>
          </a:prstGeom>
          <a:solidFill>
            <a:srgbClr val="F0EAEA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3135273"/>
            <a:ext cx="4347567" cy="3121462"/>
          </a:xfrm>
          <a:prstGeom prst="roundRect">
            <a:avLst>
              <a:gd name="adj" fmla="val 1090"/>
            </a:avLst>
          </a:prstGeom>
          <a:solidFill>
            <a:srgbClr val="F0EAEA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3362087"/>
            <a:ext cx="30903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Температурный тренд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3852505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Выявлена четкая сезонность с пиками летом и минимумами зимой, характерная для региона Актау.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41357" y="3135273"/>
            <a:ext cx="4347567" cy="3121462"/>
          </a:xfrm>
          <a:prstGeom prst="rect">
            <a:avLst/>
          </a:prstGeom>
          <a:solidFill>
            <a:srgbClr val="F0EAEA"/>
          </a:solidFill>
          <a:ln/>
        </p:spPr>
      </p:sp>
      <p:sp>
        <p:nvSpPr>
          <p:cNvPr id="8" name="Shape 6"/>
          <p:cNvSpPr/>
          <p:nvPr/>
        </p:nvSpPr>
        <p:spPr>
          <a:xfrm>
            <a:off x="5141357" y="3135273"/>
            <a:ext cx="30480" cy="3121462"/>
          </a:xfrm>
          <a:prstGeom prst="roundRect">
            <a:avLst>
              <a:gd name="adj" fmla="val 111628"/>
            </a:avLst>
          </a:prstGeom>
          <a:solidFill>
            <a:srgbClr val="D6D0D0"/>
          </a:solidFill>
          <a:ln/>
        </p:spPr>
      </p:sp>
      <p:sp>
        <p:nvSpPr>
          <p:cNvPr id="9" name="Text 7"/>
          <p:cNvSpPr/>
          <p:nvPr/>
        </p:nvSpPr>
        <p:spPr>
          <a:xfrm>
            <a:off x="5368171" y="3362087"/>
            <a:ext cx="2928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Сезонные колебания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68171" y="3852505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Годовые циклы температуры ярко выражены, что подтверждает необходимость учета временных признаков в модели.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488924" y="3135273"/>
            <a:ext cx="4347567" cy="3121462"/>
          </a:xfrm>
          <a:prstGeom prst="rect">
            <a:avLst/>
          </a:prstGeom>
          <a:solidFill>
            <a:srgbClr val="F0EAEA"/>
          </a:solidFill>
          <a:ln/>
        </p:spPr>
      </p:sp>
      <p:sp>
        <p:nvSpPr>
          <p:cNvPr id="12" name="Shape 10"/>
          <p:cNvSpPr/>
          <p:nvPr/>
        </p:nvSpPr>
        <p:spPr>
          <a:xfrm>
            <a:off x="9488924" y="3135273"/>
            <a:ext cx="30480" cy="3121462"/>
          </a:xfrm>
          <a:prstGeom prst="roundRect">
            <a:avLst>
              <a:gd name="adj" fmla="val 111628"/>
            </a:avLst>
          </a:prstGeom>
          <a:solidFill>
            <a:srgbClr val="D6D0D0"/>
          </a:solidFill>
          <a:ln/>
        </p:spPr>
      </p:sp>
      <p:sp>
        <p:nvSpPr>
          <p:cNvPr id="13" name="Text 11"/>
          <p:cNvSpPr/>
          <p:nvPr/>
        </p:nvSpPr>
        <p:spPr>
          <a:xfrm>
            <a:off x="9715738" y="3362087"/>
            <a:ext cx="35847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Влажность и температура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715738" y="3852505"/>
            <a:ext cx="389393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Наблюдается обратная корреляция: высокая влажность часто ассоциируется с более низкими температурами и наоборот, особенно в прибрежных районах.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7BB94AF-E1F7-27F0-DF4C-08712167B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36" y="909316"/>
            <a:ext cx="12919728" cy="641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616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9C8D4E-416A-0109-B826-09BD46907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975" y="857223"/>
            <a:ext cx="8308316" cy="651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030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6D18959-85BE-D72A-321A-742583045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387" y="361950"/>
            <a:ext cx="8429625" cy="750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160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B387DD6-0E55-0CF7-DD78-BB1D8374C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88" y="862360"/>
            <a:ext cx="11923624" cy="650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742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55AAD4F-5CA8-6F1F-9F0D-0F9FADC4D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006" y="677425"/>
            <a:ext cx="10810387" cy="687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481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956" y="619601"/>
            <a:ext cx="9006245" cy="703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Подход к предобработке данных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956" y="1773555"/>
            <a:ext cx="6527244" cy="9005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3103" y="2899291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Очистка данных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13103" y="3386138"/>
            <a:ext cx="6076950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Удаление дубликатов и некорректных записей для обеспечения высокого качества исходных данных.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773555"/>
            <a:ext cx="6527244" cy="9005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0347" y="2899291"/>
            <a:ext cx="3302794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Импьютация пропусков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40347" y="3386138"/>
            <a:ext cx="6076950" cy="1080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Заполнение отсутствующих значений методом интерполяции или с использованием медианы/среднего для сохранения непрерывности данных.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956" y="4691777"/>
            <a:ext cx="6527244" cy="90058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13103" y="5817513"/>
            <a:ext cx="2904530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Обработка выбросов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13103" y="6304359"/>
            <a:ext cx="6076950" cy="1080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Идентификация и корректировка аномальных значений, которые могли бы исказить результаты моделирования.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691777"/>
            <a:ext cx="6527244" cy="90058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0347" y="5817513"/>
            <a:ext cx="4497348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Создание временных признаков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40347" y="6304359"/>
            <a:ext cx="6076950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Генерация новых признаков: месяц, день недели, день года, фаза сезона для учета цикличности и трендов.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2871"/>
            <a:ext cx="79721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Выбор и сравнение моделей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2527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Для прогнозирования были выбраны три популярные модели машинного обучения.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43332"/>
            <a:ext cx="13042821" cy="3342322"/>
          </a:xfrm>
          <a:prstGeom prst="roundRect">
            <a:avLst>
              <a:gd name="adj" fmla="val 101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850952"/>
            <a:ext cx="13027581" cy="13761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462" y="2994660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Модель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289108" y="2994660"/>
            <a:ext cx="2795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MAE (Средняя абсолютная ошибка)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5943" y="2994660"/>
            <a:ext cx="27955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RMSE (Корень из среднеквадратичной ошибки)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802779" y="2994660"/>
            <a:ext cx="27993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R² (Коэффициент детерминации)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4227076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462" y="437078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Линейная регрессия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289108" y="4370784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3.5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45943" y="4370784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4.8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802779" y="437078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0.75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0" y="487739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28462" y="502110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Random Forest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4289108" y="5021104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2.1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45943" y="5021104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2.9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802779" y="502110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0.92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52771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462" y="567142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Gradient Boosting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289108" y="567142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2.3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545943" y="567142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3.1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0802779" y="567142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0.90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93790" y="64408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Модели на основе ансамблей (Random Forest и Gradient Boosting) показали значительно лучшие результаты по всем метрикам.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594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Тюнинг модели Random Forest: оптимизация гиперпараметров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2712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Для достижения максимальной производительности модели Random Forest был применен метод </a:t>
            </a:r>
            <a:r>
              <a:rPr lang="en-US" sz="1750" dirty="0">
                <a:solidFill>
                  <a:srgbClr val="1D1D1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GridSearchCV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571994"/>
            <a:ext cx="44373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Оптимизированные параметры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15313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n_estimators: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Количество деревьев в лесу (например, 200).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5823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max_depth: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Максимальная глубина каждого дерева (например, 15).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76333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min_samples_split: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Минимальное количество выборок для разделения узла (например, 5).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56844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min_samples_leaf: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Минимальное количество выборок в конечном листе (например, 3).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571994"/>
            <a:ext cx="47744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Улучшение метрик после тюнинга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415313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MAE снизился до </a:t>
            </a: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1.8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(улучшение на 14%).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59533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RMSE снизился до </a:t>
            </a: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2.4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(улучшение на 17%).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03753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R² увеличился до </a:t>
            </a: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0.94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(улучшение на 2%).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56045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Тюнинг значительно повысил точность и обобщающую способность модели.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8899"/>
            <a:ext cx="8447484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Важность признаков в улучшенной модели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532573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Анализ важности признаков показал, какие метеопараметры оказывают наибольшее влияние на прогнозирование температуры.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65246"/>
            <a:ext cx="9129951" cy="51126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7256502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Наиболее значимыми оказались временные признаки и температура предыдущего дня, подчеркивая их циклический и инерционный характер.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6058"/>
            <a:ext cx="67694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Анализ остатков модели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0846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Изучение остатков (разницы между фактическими и прогнозируемыми значениями) помогает выявить систематические ошибки и подтвердить надежность модели.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133951" y="3329583"/>
            <a:ext cx="30709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Гистограмма остатков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33951" y="4024074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Распределение остатков центрировано около нуля, что указывает на отсутствие систематических переоценок или недооценок.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133951" y="5090041"/>
            <a:ext cx="43378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Диаграмма рассеяния остатков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33951" y="5784532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Остатки равномерно распределены вокруг нулевой линии, без видимых паттернов, подтверждая гомоскедастичность и отсутствие зависимости от прогнозируемого значения.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2989421"/>
            <a:ext cx="30480" cy="3776067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9" name="Text 7"/>
          <p:cNvSpPr/>
          <p:nvPr/>
        </p:nvSpPr>
        <p:spPr>
          <a:xfrm>
            <a:off x="793790" y="70206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Модель демонстрирует высокую стабильность и не имеет значимых систематических отклонений.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714" y="772120"/>
            <a:ext cx="13104971" cy="136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Результаты, ограничения и дальнейшие улучшения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762714" y="2570083"/>
            <a:ext cx="4223028" cy="4887278"/>
          </a:xfrm>
          <a:prstGeom prst="roundRect">
            <a:avLst>
              <a:gd name="adj" fmla="val 12386"/>
            </a:avLst>
          </a:prstGeom>
          <a:solidFill>
            <a:srgbClr val="F0EAEA"/>
          </a:solidFill>
          <a:ln/>
        </p:spPr>
      </p:sp>
      <p:sp>
        <p:nvSpPr>
          <p:cNvPr id="4" name="Text 2"/>
          <p:cNvSpPr/>
          <p:nvPr/>
        </p:nvSpPr>
        <p:spPr>
          <a:xfrm>
            <a:off x="980599" y="2787968"/>
            <a:ext cx="297144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Ключевые результаты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80599" y="3259217"/>
            <a:ext cx="3787259" cy="1743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Модель Random Forest с тюнингом гиперпараметров показала высокую точность прогнозирования температуры в Актау (R² = 0.94, MAE = 1.8°C).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203627" y="2570083"/>
            <a:ext cx="4223028" cy="4887278"/>
          </a:xfrm>
          <a:prstGeom prst="roundRect">
            <a:avLst>
              <a:gd name="adj" fmla="val 12386"/>
            </a:avLst>
          </a:prstGeom>
          <a:solidFill>
            <a:srgbClr val="F0EAEA"/>
          </a:solidFill>
          <a:ln/>
        </p:spPr>
      </p:sp>
      <p:sp>
        <p:nvSpPr>
          <p:cNvPr id="7" name="Text 5"/>
          <p:cNvSpPr/>
          <p:nvPr/>
        </p:nvSpPr>
        <p:spPr>
          <a:xfrm>
            <a:off x="5421511" y="2787968"/>
            <a:ext cx="2945606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Ограничения проекта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421511" y="3259217"/>
            <a:ext cx="3787259" cy="1046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Относительно короткий исторический период данных (1 </a:t>
            </a:r>
            <a:r>
              <a:rPr lang="ru-RU" sz="17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год</a:t>
            </a:r>
            <a:r>
              <a:rPr lang="en-US" sz="17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).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21511" y="4381619"/>
            <a:ext cx="3787259" cy="1394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Отсутствие внешних факторов (например, спутниковых данных, климатических индексов).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644539" y="2570083"/>
            <a:ext cx="4223147" cy="4887278"/>
          </a:xfrm>
          <a:prstGeom prst="roundRect">
            <a:avLst>
              <a:gd name="adj" fmla="val 12386"/>
            </a:avLst>
          </a:prstGeom>
          <a:solidFill>
            <a:srgbClr val="F0EAEA"/>
          </a:solidFill>
          <a:ln/>
        </p:spPr>
      </p:sp>
      <p:sp>
        <p:nvSpPr>
          <p:cNvPr id="11" name="Text 9"/>
          <p:cNvSpPr/>
          <p:nvPr/>
        </p:nvSpPr>
        <p:spPr>
          <a:xfrm>
            <a:off x="9862423" y="2787968"/>
            <a:ext cx="3787378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Рекомендации по улучшению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862423" y="3599736"/>
            <a:ext cx="3787378" cy="697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Использование более длинного периода исторических данных.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862423" y="4373404"/>
            <a:ext cx="3787378" cy="1394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Интеграция внешних признаков: солнечная радиация, климатические индексы.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862423" y="5844540"/>
            <a:ext cx="3787378" cy="1394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Исследование продвинутых моделей: CatBoost, XGBoost, LSTM-сети для временных рядов.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710</Words>
  <Application>Microsoft Office PowerPoint</Application>
  <PresentationFormat>Произвольный</PresentationFormat>
  <Paragraphs>104</Paragraphs>
  <Slides>15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Tomorrow Semi Bold</vt:lpstr>
      <vt:lpstr>Tomorrow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Nicholas Frankin</cp:lastModifiedBy>
  <cp:revision>2</cp:revision>
  <dcterms:created xsi:type="dcterms:W3CDTF">2025-12-16T19:35:51Z</dcterms:created>
  <dcterms:modified xsi:type="dcterms:W3CDTF">2025-12-16T19:41:24Z</dcterms:modified>
</cp:coreProperties>
</file>